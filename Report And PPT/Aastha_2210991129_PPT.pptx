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7" r:id="rId13"/>
    <p:sldId id="275" r:id="rId14"/>
    <p:sldId id="278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1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496276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4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Comparison between Deep Learning Models for Early Detection of Alzheimer’s Disease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Aastha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2210991129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Lalit Sharma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239" y="1133685"/>
            <a:ext cx="8838720" cy="538116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317500"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Disease is a progressive neurodegenerative disorder affecting memory and cognition</a:t>
            </a:r>
          </a:p>
          <a:p>
            <a:pPr marL="457200" indent="-317500"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Early detection is critical for slowing disease progression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MRI brain scans provide structural information for diagnosis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 Learning, especially CNNs, can automatically extract features and improve detection accuracy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AutoShape 5" descr="Understanding Alzheimer's Disease: Causes, Symptoms, and Risk Factors -  Shinon Global">
            <a:extLst>
              <a:ext uri="{FF2B5EF4-FFF2-40B4-BE49-F238E27FC236}">
                <a16:creationId xmlns:a16="http://schemas.microsoft.com/office/drawing/2014/main" id="{DD9D1317-EB65-489A-9DF8-966D5C3EE0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EBEA26-10EA-44D0-9BEE-B121F4BF5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72" y="3429000"/>
            <a:ext cx="6657055" cy="28382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2436-67FC-41B9-AA1B-E67E846A9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EE5EF-7535-461C-8F6F-58832C952BF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44020" y="176604"/>
            <a:ext cx="8229240" cy="395815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is: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Prone to human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in medical datasets reduces model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automated, accurate, and robust classification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9F30F-3A3A-4679-AAC1-1B97C4942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304" y="3583944"/>
            <a:ext cx="5376672" cy="26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71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1B7C-5DC0-4992-A46E-D1C7CE2D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CCF0F-4F07-4C57-B907-6CB263F0E5C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59664" y="0"/>
            <a:ext cx="8229240" cy="39772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CNN-based models for Alzheimer’s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performance of multiple architectures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using advanced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high balanced accuracy across all classes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EF6053-E5F3-44DD-95E0-1C966D783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75" y="3267163"/>
            <a:ext cx="7297889" cy="31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62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655F-B7E5-4B3B-9A82-24D748C3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39658-34C7-4286-971D-0CB82E138DB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53568" y="1328928"/>
            <a:ext cx="5486040" cy="3011424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OASIS Alzheimer’s MRI Dataset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Non-Demented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Mild Demented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Demented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Demented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 images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D58B6-314A-4098-A9CF-E7EB22D84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928" y="3429000"/>
            <a:ext cx="3502512" cy="31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9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04FC-ECC6-4F7F-BAE9-3C2E6EF2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DDEAB-13B4-46B4-9FF5-5F36265F42D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53568" y="1331976"/>
            <a:ext cx="5486040" cy="2335367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 Google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(T4 GPU)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Keras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NumPy, Pandas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/ Seaborn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acceleration improved training speed</a:t>
            </a:r>
          </a:p>
        </p:txBody>
      </p:sp>
      <p:pic>
        <p:nvPicPr>
          <p:cNvPr id="3076" name="Picture 4" descr="NVIDIA A100 GPU – computing power and AI | T Cloud Public">
            <a:extLst>
              <a:ext uri="{FF2B5EF4-FFF2-40B4-BE49-F238E27FC236}">
                <a16:creationId xmlns:a16="http://schemas.microsoft.com/office/drawing/2014/main" id="{7AB105EA-82D2-4775-9895-D2455D43C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299" y="4085279"/>
            <a:ext cx="3286477" cy="218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541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5A481-5872-4AD9-9691-99955A10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F26B8-BE56-4261-8360-18417A27BBF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1157880"/>
            <a:ext cx="8229240" cy="5588760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CNN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convolutional architecture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 →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Pooling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a reference model</a:t>
            </a:r>
          </a:p>
          <a:p>
            <a:pPr lvl="2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EfficientNetB0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 with compound scaling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 terms of parameters and performance and Fine-tuned on MRI dataset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connections between layers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reuse improves learning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vanishing gradient problem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 (Enhanced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Advanced Techniques: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Loss → handles class imbalance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TTA (Test Time Augmentation) → improves generalization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→ provides model interpretability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improving minority class detection</a:t>
            </a: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67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FFC1-AE3A-4330-A57E-ABAAB936A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2D472-5BC6-43F3-A9D3-6A4BCE09427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86512" y="1117759"/>
            <a:ext cx="8229240" cy="3977280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Loss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impact of easy samples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hard-to-classify cases </a:t>
            </a: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TTA (Test Time Augmentation)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predictions per image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robustness </a:t>
            </a: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explanation technique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important brain regions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C42E9-FD97-4985-88C9-2FF30AC64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173" y="3594323"/>
            <a:ext cx="4102315" cy="283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66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4057-151F-46CF-AF69-626B8FA7F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EA711-0EDE-4C19-8651-4B28D20293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63200" y="1380418"/>
            <a:ext cx="4015800" cy="277213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Insights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widely used for MRI-based Alzheimer’s detection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frequently best-performing model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improves performance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is a major challenge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39330-56D5-4430-9E0E-106E5C9D864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701480" y="1532160"/>
            <a:ext cx="4015800" cy="207756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works use: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augmentation / class weighting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loss functions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inference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CF35D1-7C0F-4E9C-B3A3-9DA6384C0A9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65760" y="3889344"/>
            <a:ext cx="4015800" cy="2340768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Approach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Loss (better imbalance handling)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TTA (more robust predictions)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(model interpretability)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88ACC7-1874-45DC-B4E8-C8080A9FBB5D}"/>
              </a:ext>
            </a:extLst>
          </p:cNvPr>
          <p:cNvSpPr txBox="1"/>
          <p:nvPr/>
        </p:nvSpPr>
        <p:spPr>
          <a:xfrm>
            <a:off x="4762442" y="4152552"/>
            <a:ext cx="39014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94% Balanced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minority class detection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41A2E-B87C-41D4-A91E-B7481A1D642E}"/>
              </a:ext>
            </a:extLst>
          </p:cNvPr>
          <p:cNvSpPr txBox="1"/>
          <p:nvPr/>
        </p:nvSpPr>
        <p:spPr>
          <a:xfrm>
            <a:off x="163200" y="980308"/>
            <a:ext cx="4511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36 Research Papers</a:t>
            </a:r>
          </a:p>
        </p:txBody>
      </p:sp>
      <p:pic>
        <p:nvPicPr>
          <p:cNvPr id="8196" name="Picture 4" descr="Hand Writing Notes with Pencil on Paper Sketch Style Stock Illustration -  Illustration of education, hand: 408832485">
            <a:extLst>
              <a:ext uri="{FF2B5EF4-FFF2-40B4-BE49-F238E27FC236}">
                <a16:creationId xmlns:a16="http://schemas.microsoft.com/office/drawing/2014/main" id="{40201D95-74BF-4961-A2C2-3E7353A54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696" y="4978987"/>
            <a:ext cx="1685544" cy="168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47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149C-B11E-4E57-A039-02A9F89C3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6E18B5-E1C6-44D5-BA39-CF83A3352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639262"/>
              </p:ext>
            </p:extLst>
          </p:nvPr>
        </p:nvGraphicFramePr>
        <p:xfrm>
          <a:off x="430500" y="2586068"/>
          <a:ext cx="8137551" cy="39888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6208">
                  <a:extLst>
                    <a:ext uri="{9D8B030D-6E8A-4147-A177-3AD203B41FA5}">
                      <a16:colId xmlns:a16="http://schemas.microsoft.com/office/drawing/2014/main" val="3404316217"/>
                    </a:ext>
                  </a:extLst>
                </a:gridCol>
                <a:gridCol w="1328928">
                  <a:extLst>
                    <a:ext uri="{9D8B030D-6E8A-4147-A177-3AD203B41FA5}">
                      <a16:colId xmlns:a16="http://schemas.microsoft.com/office/drawing/2014/main" val="4268348493"/>
                    </a:ext>
                  </a:extLst>
                </a:gridCol>
                <a:gridCol w="1137544">
                  <a:extLst>
                    <a:ext uri="{9D8B030D-6E8A-4147-A177-3AD203B41FA5}">
                      <a16:colId xmlns:a16="http://schemas.microsoft.com/office/drawing/2014/main" val="2605112653"/>
                    </a:ext>
                  </a:extLst>
                </a:gridCol>
                <a:gridCol w="1081288">
                  <a:extLst>
                    <a:ext uri="{9D8B030D-6E8A-4147-A177-3AD203B41FA5}">
                      <a16:colId xmlns:a16="http://schemas.microsoft.com/office/drawing/2014/main" val="628865530"/>
                    </a:ext>
                  </a:extLst>
                </a:gridCol>
                <a:gridCol w="1240434">
                  <a:extLst>
                    <a:ext uri="{9D8B030D-6E8A-4147-A177-3AD203B41FA5}">
                      <a16:colId xmlns:a16="http://schemas.microsoft.com/office/drawing/2014/main" val="2159177427"/>
                    </a:ext>
                  </a:extLst>
                </a:gridCol>
                <a:gridCol w="1393149">
                  <a:extLst>
                    <a:ext uri="{9D8B030D-6E8A-4147-A177-3AD203B41FA5}">
                      <a16:colId xmlns:a16="http://schemas.microsoft.com/office/drawing/2014/main" val="149951048"/>
                    </a:ext>
                  </a:extLst>
                </a:gridCol>
              </a:tblGrid>
              <a:tr h="1846406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Precision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Recall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F1-Score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0" algn="ctr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Accuracy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3761651"/>
                  </a:ext>
                </a:extLst>
              </a:tr>
              <a:tr h="461601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CNN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137979"/>
                  </a:ext>
                </a:extLst>
              </a:tr>
              <a:tr h="461601"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EfficientNet-B0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3057352"/>
                  </a:ext>
                </a:extLst>
              </a:tr>
              <a:tr h="461601"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DenseNet121 (Initial)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1957890"/>
                  </a:ext>
                </a:extLst>
              </a:tr>
              <a:tr h="461601"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DenseNet121 (Proposed)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887215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E531D6-E4C9-46B8-981D-BDFFCDFADD7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84655" y="-238586"/>
            <a:ext cx="8229240" cy="3977280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proposed DenseNet121 model achieved the highest overall performance with 85% accuracy and 0.94 balanced accuracy, outperforming the Baseline CNN and EfficientNet-B0. The macro F1-score and balanced accuracy of EfficientNet-B0 were very low, showing strong bias towards the majority class, despite having a slightly higher accuracy than the CNN model. This proves that DenseNet121 yields the best results in balancing the classification of all stages of Alzheimer’s disease, thus, is the best model.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570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34C3D-B637-4CE2-9179-8848BF57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10858-8051-413A-B250-AE392B99BA4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80192" y="788161"/>
            <a:ext cx="4315968" cy="3979416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limitations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GPU for training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to real-world data needs validation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966EF-706F-4A9E-9A35-185E685B593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796160" y="609240"/>
            <a:ext cx="4311264" cy="397728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and diverse datasets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model in real-time healthcare systems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IoT / clinical tools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hybrid deep learning models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Creative Guidance – Knowing your limitations – Inspirational Educative  Articles | IASbaba">
            <a:extLst>
              <a:ext uri="{FF2B5EF4-FFF2-40B4-BE49-F238E27FC236}">
                <a16:creationId xmlns:a16="http://schemas.microsoft.com/office/drawing/2014/main" id="{8F9A0764-5D92-4253-8015-940403D3B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44" y="4080131"/>
            <a:ext cx="3523488" cy="234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905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35403</TotalTime>
  <Words>590</Words>
  <Application>Microsoft Office PowerPoint</Application>
  <PresentationFormat>On-screen Show (4:3)</PresentationFormat>
  <Paragraphs>160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Objectives</vt:lpstr>
      <vt:lpstr>Dataset</vt:lpstr>
      <vt:lpstr>Tools &amp; Environment</vt:lpstr>
      <vt:lpstr>Models Used</vt:lpstr>
      <vt:lpstr>Key Techniques</vt:lpstr>
      <vt:lpstr>Literature Review</vt:lpstr>
      <vt:lpstr>Results Comparison</vt:lpstr>
      <vt:lpstr>Limitations &amp; Future Work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Aastha Garg</cp:lastModifiedBy>
  <cp:revision>2316</cp:revision>
  <dcterms:created xsi:type="dcterms:W3CDTF">2010-04-09T07:36:15Z</dcterms:created>
  <dcterms:modified xsi:type="dcterms:W3CDTF">2026-05-02T19:54:26Z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